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Century Gothic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enturyGothic-bold.fntdata"/><Relationship Id="rId16" Type="http://schemas.openxmlformats.org/officeDocument/2006/relationships/font" Target="fonts/CenturyGothic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boldItalic.fntdata"/><Relationship Id="rId6" Type="http://schemas.openxmlformats.org/officeDocument/2006/relationships/slide" Target="slides/slide1.xml"/><Relationship Id="rId18" Type="http://schemas.openxmlformats.org/officeDocument/2006/relationships/font" Target="fonts/CenturyGothic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ceeea625d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ceeea625d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AutoNum type="arabicPeriod"/>
            </a:pPr>
            <a:r>
              <a:rPr lang="e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¿Cuál es el objetivo de escribir y leer los artículos científicos?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AutoNum type="arabicPeriod"/>
            </a:pPr>
            <a:r>
              <a:rPr lang="e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¿Cómo está estructurado el artículo (resumen, introducción, marco teórico, metodología, resultados, conclusiones, referencias)?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AutoNum type="arabicPeriod"/>
            </a:pPr>
            <a:r>
              <a:rPr lang="e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Identifique las diferencias entre las secciones del artículo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Tabla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criterios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AutoNum type="arabicPeriod"/>
            </a:pPr>
            <a:r>
              <a:rPr lang="e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¿Qué tiempo verbal predomina en cada parte?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AutoNum type="arabicPeriod"/>
            </a:pPr>
            <a:r>
              <a:rPr lang="e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Identifiquen 5 palabras o expresiones que sean típicas del lenguaje científico.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AutoNum type="arabicPeriod"/>
            </a:pPr>
            <a:r>
              <a:rPr lang="e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¿Por qué es importante la claridad y la precisión en la divulgación científica? 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6fe798bf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6fe798bf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fe798bf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fe798bf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fe798bf7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fe798bf7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fe798bf7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fe798bf7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fe798bf7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fe798bf7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fe798bf7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fe798bf7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23c75d8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23c75d8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23c75d8c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23c75d8c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800"/>
              <a:buFont typeface="Century Gothic"/>
              <a:buNone/>
              <a:defRPr sz="2800">
                <a:solidFill>
                  <a:srgbClr val="0F6FC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entury Gothic"/>
              <a:buChar char="●"/>
              <a:defRPr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○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■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●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○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■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●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○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entury Gothic"/>
              <a:buChar char="■"/>
              <a:defRPr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263925" y="81275"/>
            <a:ext cx="815074" cy="4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/>
        </p:nvSpPr>
        <p:spPr>
          <a:xfrm>
            <a:off x="7021700" y="4911900"/>
            <a:ext cx="217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6666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Autor</a:t>
            </a:r>
            <a:endParaRPr sz="700">
              <a:solidFill>
                <a:srgbClr val="66666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270850" y="76200"/>
            <a:ext cx="782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Carrera:</a:t>
            </a:r>
            <a:r>
              <a:rPr b="1" lang="es" sz="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Ingeniería en Informática			</a:t>
            </a:r>
            <a:r>
              <a:rPr lang="es" sz="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Cátedra:</a:t>
            </a:r>
            <a:r>
              <a:rPr b="1" lang="es" sz="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Informática II</a:t>
            </a:r>
            <a:endParaRPr b="1" sz="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1" name="Google Shape;11;p1"/>
          <p:cNvCxnSpPr/>
          <p:nvPr/>
        </p:nvCxnSpPr>
        <p:spPr>
          <a:xfrm flipH="1" rot="10800000">
            <a:off x="270850" y="369950"/>
            <a:ext cx="78264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normasapa.in/" TargetMode="External"/><Relationship Id="rId4" Type="http://schemas.openxmlformats.org/officeDocument/2006/relationships/hyperlink" Target="https://www.tec.ac.cr/sites/default/files/media/doc/normas_ieee_tec.pd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ctrTitle"/>
          </p:nvPr>
        </p:nvSpPr>
        <p:spPr>
          <a:xfrm>
            <a:off x="311700" y="1614001"/>
            <a:ext cx="8520600" cy="114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80"/>
              <a:t>La Importancia de la </a:t>
            </a:r>
            <a:endParaRPr sz="32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80"/>
              <a:t>Comunicación Científica entre Pares</a:t>
            </a:r>
            <a:endParaRPr sz="3280"/>
          </a:p>
        </p:txBody>
      </p:sp>
      <p:sp>
        <p:nvSpPr>
          <p:cNvPr id="47" name="Google Shape;47;p13"/>
          <p:cNvSpPr txBox="1"/>
          <p:nvPr/>
        </p:nvSpPr>
        <p:spPr>
          <a:xfrm>
            <a:off x="0" y="4804800"/>
            <a:ext cx="227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Century Gothic"/>
                <a:ea typeface="Century Gothic"/>
                <a:cs typeface="Century Gothic"/>
                <a:sym typeface="Century Gothic"/>
              </a:rPr>
              <a:t>Fecha de revisión: </a:t>
            </a:r>
            <a:endParaRPr sz="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¿Divulgación vs. Comunicación?</a:t>
            </a:r>
            <a:endParaRPr/>
          </a:p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4"/>
                </a:solidFill>
              </a:rPr>
              <a:t>D</a:t>
            </a:r>
            <a:r>
              <a:rPr b="1" lang="es">
                <a:solidFill>
                  <a:schemeClr val="accent4"/>
                </a:solidFill>
              </a:rPr>
              <a:t>ivulgación científica:</a:t>
            </a:r>
            <a:r>
              <a:rPr lang="es"/>
              <a:t> Es cuando explicamos ciencia al público general, como en documentales o revistas no especializadas.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4"/>
                </a:solidFill>
              </a:rPr>
              <a:t>Comunicación científica entre expertos:</a:t>
            </a:r>
            <a:r>
              <a:rPr lang="es"/>
              <a:t> </a:t>
            </a:r>
            <a:r>
              <a:rPr lang="es"/>
              <a:t>Es el lenguaje que utiliza la ciencia para construirse, validarse y avanzar.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No se trata de simplificar, sino de comunicar con precisión, rigor y claridad a quienes comparten su campo de conocimiento.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¿Por qué comunicarnos con otros científicos?</a:t>
            </a:r>
            <a:endParaRPr/>
          </a:p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>
                <a:solidFill>
                  <a:schemeClr val="accent5"/>
                </a:solidFill>
              </a:rPr>
              <a:t>Validación:</a:t>
            </a:r>
            <a:r>
              <a:rPr lang="es"/>
              <a:t> Sus hallazgos deben ser examinados y replicados por otros. La comunicación es el primer paso para ese escrutinio, conocido como revisión por pares (peer review).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>
                <a:solidFill>
                  <a:schemeClr val="accent5"/>
                </a:solidFill>
              </a:rPr>
              <a:t>Construcción colectiva:</a:t>
            </a:r>
            <a:r>
              <a:rPr lang="es"/>
              <a:t> Nadie parte de cero. Nos apoyamos en el trabajo de quienes nos precedieron.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>
                <a:solidFill>
                  <a:schemeClr val="accent5"/>
                </a:solidFill>
              </a:rPr>
              <a:t>Eficiencia:</a:t>
            </a:r>
            <a:r>
              <a:rPr lang="es"/>
              <a:t> Comunicar lo que hemos hecho evita que otros equipos dupliquen esfuerzos innecesariamente.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>
                <a:solidFill>
                  <a:schemeClr val="accent5"/>
                </a:solidFill>
              </a:rPr>
              <a:t>Colaboración:</a:t>
            </a:r>
            <a:r>
              <a:rPr lang="es"/>
              <a:t> Permite encontrar a otros investigadores con intereses similares para unir fuerzas y abordar problemas más complejos.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</a:t>
            </a:r>
            <a:r>
              <a:rPr lang="es"/>
              <a:t>é es un Artículo Científico (Paper)?</a:t>
            </a:r>
            <a:endParaRPr/>
          </a:p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 </a:t>
            </a:r>
            <a:r>
              <a:rPr b="1" lang="es">
                <a:solidFill>
                  <a:schemeClr val="accent5"/>
                </a:solidFill>
              </a:rPr>
              <a:t>documento escrito</a:t>
            </a:r>
            <a:r>
              <a:rPr lang="es"/>
              <a:t> donde un investigador o equipo detalla su trabajo de manera que otros puedan: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Entender qué se hizo.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Juzgar la calidad y validez del trabajo.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Replicar el experimento o estudio si lo desean.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 una </a:t>
            </a:r>
            <a:r>
              <a:rPr b="1" lang="es"/>
              <a:t>comunicación formal</a:t>
            </a:r>
            <a:r>
              <a:rPr lang="es"/>
              <a:t> que puede ser presentada en congresos, eventos, revistas, entre otros.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</a:t>
            </a:r>
            <a:r>
              <a:rPr lang="es"/>
              <a:t>ómo se escribe este artículo científico?</a:t>
            </a:r>
            <a:endParaRPr/>
          </a:p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que esta </a:t>
            </a:r>
            <a:r>
              <a:rPr b="1" lang="es"/>
              <a:t>comunicación sea efectiva</a:t>
            </a:r>
            <a:r>
              <a:rPr lang="es"/>
              <a:t>, los artículos siguen una estructura estandarizada </a:t>
            </a:r>
            <a:r>
              <a:rPr lang="es" sz="1400"/>
              <a:t>(puede haber variaciones).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5"/>
                </a:solidFill>
              </a:rPr>
              <a:t>Estructura del documento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5"/>
                </a:solidFill>
              </a:rPr>
              <a:t>Título:</a:t>
            </a:r>
            <a:r>
              <a:rPr b="1" lang="es"/>
              <a:t> </a:t>
            </a:r>
            <a:r>
              <a:rPr lang="es"/>
              <a:t>La primera impresión. Debe ser conciso y descriptivo.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5"/>
                </a:solidFill>
              </a:rPr>
              <a:t>Afiliaciones: </a:t>
            </a:r>
            <a:r>
              <a:rPr lang="es"/>
              <a:t>Quienes</a:t>
            </a:r>
            <a:r>
              <a:rPr lang="es"/>
              <a:t> y donde realizaron la investigación.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5"/>
                </a:solidFill>
              </a:rPr>
              <a:t>Resumen (Abstract):</a:t>
            </a:r>
            <a:r>
              <a:rPr lang="es"/>
              <a:t> Describe el objetivo, métodos, resultados principales y conclusiones. Con este apartado el lector/investigador decidirá si continúa leyendo el artículo.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se escribe este artículo científico?</a:t>
            </a:r>
            <a:endParaRPr/>
          </a:p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5"/>
                </a:solidFill>
              </a:rPr>
              <a:t>Introducción:</a:t>
            </a:r>
            <a:r>
              <a:rPr lang="es"/>
              <a:t> Presenta el "qué" y el "porqué". ¿Cuál es el problema? ¿Qué se sabía antes (antecedentes)? ¿Cuál es la pregunta o hipótesis de este trabajo?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5"/>
                </a:solidFill>
              </a:rPr>
              <a:t>Marco Teórico:</a:t>
            </a:r>
            <a:r>
              <a:rPr lang="es"/>
              <a:t> Fundamenta la investigación. Describe las teorías y conceptos clave en los que se basa el estudio. </a:t>
            </a:r>
            <a:r>
              <a:rPr lang="es"/>
              <a:t>Incluye las fuentes bibliográficas y las investigaciones previas.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5"/>
                </a:solidFill>
              </a:rPr>
              <a:t>Metodología: </a:t>
            </a:r>
            <a:r>
              <a:rPr lang="es"/>
              <a:t>El "cómo". </a:t>
            </a:r>
            <a:r>
              <a:rPr lang="es"/>
              <a:t>Describe los métodos que utilizaste para llevar a cabo la investigación, incluyendo los procedimientos, los instrumentos de medición y los análisis estadísticos.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se escribe este artículo científico?</a:t>
            </a:r>
            <a:endParaRPr/>
          </a:p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5"/>
                </a:solidFill>
              </a:rPr>
              <a:t>Resultados:</a:t>
            </a:r>
            <a:r>
              <a:rPr lang="es"/>
              <a:t> Presenta los resultados de tu investigación de manera clara y concisa, sin interpretación. Utiliza tablas, gráficos y diagramas para ayudar a visualizar los datos.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5"/>
                </a:solidFill>
              </a:rPr>
              <a:t>Discusión:</a:t>
            </a:r>
            <a:r>
              <a:rPr lang="es"/>
              <a:t> </a:t>
            </a:r>
            <a:r>
              <a:rPr lang="es"/>
              <a:t>Analiza y explica los resultados de tu investigación.</a:t>
            </a:r>
            <a:r>
              <a:rPr lang="es"/>
              <a:t> ¿Qué significan? ¿Cómo se comparan con lo que otros encontraron? ¿Cuáles son las limitaciones del estudio?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5"/>
                </a:solidFill>
              </a:rPr>
              <a:t>Conclusiones:</a:t>
            </a:r>
            <a:r>
              <a:rPr lang="es"/>
              <a:t> Un resumen de los hallazgos más importantes y su implicancia. Retoma las pregunta problema, la </a:t>
            </a:r>
            <a:r>
              <a:rPr lang="es"/>
              <a:t>hipótesis</a:t>
            </a:r>
            <a:r>
              <a:rPr lang="es"/>
              <a:t>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5"/>
                </a:solidFill>
              </a:rPr>
              <a:t>Recomendaciones (opcional):</a:t>
            </a:r>
            <a:r>
              <a:rPr lang="es"/>
              <a:t> Sugerencias para futuras investigaciones o aplicaciones prácticas.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se escribe este artículo científico?</a:t>
            </a:r>
            <a:endParaRPr/>
          </a:p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311700" y="1275650"/>
            <a:ext cx="8520600" cy="3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>
                <a:solidFill>
                  <a:schemeClr val="accent5"/>
                </a:solidFill>
              </a:rPr>
              <a:t>Referencias </a:t>
            </a:r>
            <a:r>
              <a:rPr lang="es">
                <a:solidFill>
                  <a:schemeClr val="accent5"/>
                </a:solidFill>
              </a:rPr>
              <a:t>bibliográficas:</a:t>
            </a:r>
            <a:r>
              <a:rPr lang="es"/>
              <a:t> Incluye una lista completa de todas las fuentes bibliográficas que utilizaste para la investigación.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Citar correctamente no es una formalidad, es un</a:t>
            </a:r>
            <a:r>
              <a:rPr b="1" lang="es"/>
              <a:t> imperativo ético y práctico.</a:t>
            </a:r>
            <a:r>
              <a:rPr lang="es"/>
              <a:t> Cada afirmación que no proviene de su propia investigación debe estar respaldada por una cita.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Existen diferentes estilos o normas:</a:t>
            </a:r>
            <a:endParaRPr/>
          </a:p>
          <a:p>
            <a:pPr indent="-304800" lvl="0" marL="914400" rtl="0" algn="just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s" sz="1200">
                <a:solidFill>
                  <a:schemeClr val="accent5"/>
                </a:solidFill>
              </a:rPr>
              <a:t>APA (American Psychological Association):</a:t>
            </a:r>
            <a:r>
              <a:rPr lang="es" sz="1200"/>
              <a:t> Se utilizan en las Ciencias Sociales (como psicología, sociología, educación y comunicación). </a:t>
            </a:r>
            <a:r>
              <a:rPr lang="es" sz="1200" u="sng">
                <a:solidFill>
                  <a:schemeClr val="hlink"/>
                </a:solidFill>
                <a:hlinkClick r:id="rId3"/>
              </a:rPr>
              <a:t>https://normasapa.in/</a:t>
            </a:r>
            <a:endParaRPr sz="1200"/>
          </a:p>
          <a:p>
            <a:pPr indent="-304800" lvl="0" marL="9144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" sz="1200">
                <a:solidFill>
                  <a:schemeClr val="accent5"/>
                </a:solidFill>
              </a:rPr>
              <a:t>IEEE (Institute of Electrical and Electronics Engineers):</a:t>
            </a:r>
            <a:r>
              <a:rPr lang="es" sz="1200"/>
              <a:t> Se utilizan en las Ciencias Exactas (ciencias de la computación, ingeniería y tecnología).	 </a:t>
            </a:r>
            <a:r>
              <a:rPr lang="es" sz="1200" u="sng">
                <a:solidFill>
                  <a:schemeClr val="hlink"/>
                </a:solidFill>
                <a:hlinkClick r:id="rId4"/>
              </a:rPr>
              <a:t>https://www.tec.ac.cr/sites/default/files/media/doc/normas_ieee_tec.pdf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</a:t>
            </a:r>
            <a:endParaRPr/>
          </a:p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Armar grupos de 4 o 5 miembros.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Leer el art</a:t>
            </a:r>
            <a:r>
              <a:rPr lang="es"/>
              <a:t>ículo y responder las preguntas.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Designar un portavoz para la puesta en común.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</a:t>
            </a:r>
            <a:endParaRPr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Responde las siguientes preguntas: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Observen la primera página. ¿Quién es el autor y a qué institución pertenece? ¿Les parece que el título es claro sobre lo que van a leer? ¿Por qué?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Identifiquen la sección Resumen (Abstract). Sin entrar en detalles técnicos, ¿qué tipo de información les adelanta esta sección? ¿Les parece útil para decidir si leerían el artículo completo?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Hagan un recorrido visual por todo el artículo y listen las secciones principales que logren identificar (ej: Introducción, Conclusiones, etc.). ¿Coinciden con la estructura que vimos en la presentación?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En la sección "Introducción". ¿Cuál creen que es su propósito principal?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En la sección "Metodología". ¿Qué tipo de información presenta? ¿En qué se diferencia de la introducción?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Observen cómo se presentan los Resultados. ¿Ven tablas, gráficos o fragmentos de código</a:t>
            </a:r>
            <a:r>
              <a:rPr lang="es"/>
              <a:t>?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/>
              <a:t>En </a:t>
            </a:r>
            <a:r>
              <a:rPr lang="es"/>
              <a:t>la sección de "Referencias". ¿Por qué creen que es fundamental incluir esta lista al final de un trabajo científico?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DBF5F9"/>
      </a:lt2>
      <a:accent1>
        <a:srgbClr val="0F6FC6"/>
      </a:accent1>
      <a:accent2>
        <a:srgbClr val="212121"/>
      </a:accent2>
      <a:accent3>
        <a:srgbClr val="78909C"/>
      </a:accent3>
      <a:accent4>
        <a:srgbClr val="FF0066"/>
      </a:accent4>
      <a:accent5>
        <a:srgbClr val="7030A0"/>
      </a:accent5>
      <a:accent6>
        <a:srgbClr val="DBF5F9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